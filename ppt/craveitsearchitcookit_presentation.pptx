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Baseline (4-run avg, before fixes)</c:v>
                </c:pt>
              </c:strCache>
            </c:strRef>
          </c:tx>
          <c:spPr>
            <a:solidFill>
              <a:srgbClr val="D9A48F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19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Faithfulness</c:v>
                  </c:pt>
                  <c:pt idx="1">
                    <c:v>Relevancy</c:v>
                  </c:pt>
                  <c:pt idx="2">
                    <c:v>Completeness</c:v>
                  </c:pt>
                  <c:pt idx="3">
                    <c:v>Retrieval Hit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3.4</c:v>
                </c:pt>
                <c:pt idx="1">
                  <c:v>4.5</c:v>
                </c:pt>
                <c:pt idx="2">
                  <c:v>4</c:v>
                </c:pt>
                <c:pt idx="3">
                  <c:v>4.6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Final (after prompt + harness fixes)</c:v>
                </c:pt>
              </c:strCache>
            </c:strRef>
          </c:tx>
          <c:spPr>
            <a:solidFill>
              <a:srgbClr val="8B3A2F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2A1912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Faithfulness</c:v>
                  </c:pt>
                  <c:pt idx="1">
                    <c:v>Relevancy</c:v>
                  </c:pt>
                  <c:pt idx="2">
                    <c:v>Completeness</c:v>
                  </c:pt>
                  <c:pt idx="3">
                    <c:v>Retrieval Hit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4.6</c:v>
                </c:pt>
                <c:pt idx="1">
                  <c:v>4.56</c:v>
                </c:pt>
                <c:pt idx="2">
                  <c:v>3.8</c:v>
                </c:pt>
                <c:pt idx="3">
                  <c:v>4.6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900" u="none">
                  <a:solidFill>
                    <a:srgbClr val="2A1912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A1912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5DCD2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B5E5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B5E57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A1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640080" cy="64008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1218" y="601218"/>
            <a:ext cx="352044" cy="35204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457200" y="18288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Crave It · Search It · Cook It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6060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Multimodal Recipe RAG Assistant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1089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A094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· Multilingual &amp; Multimodal Retrieval · LLM-as-Judge Evaluation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 · FAISS · OpenCLIP · Groq gpt-oss-120b · Gradio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9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It Does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0584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chat-based recipe assistant that understands any-language queries, finds the closest matching recipes by meaning, surfaces visually similar dish photos, and generates a grounded, chef-style answer from real retrieved recipes.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457200" y="1874520"/>
            <a:ext cx="457200" cy="45720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0070" y="1977390"/>
            <a:ext cx="251460" cy="2514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87452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by default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051560" y="214884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Auto-detects &amp; translates 20+ languages before retrieval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57200" y="2651760"/>
            <a:ext cx="457200" cy="45720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70" y="2754630"/>
            <a:ext cx="251460" cy="25146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51560" y="265176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recipe search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1051560" y="292608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+ MiniLM embeddings for meaning-based search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457200" y="3429000"/>
            <a:ext cx="457200" cy="45720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0070" y="3531870"/>
            <a:ext cx="251460" cy="25146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051560" y="342900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dish matching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051560" y="3703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 finds visually similar dishes, even across languages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57200" y="4206240"/>
            <a:ext cx="457200" cy="45720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070" y="4309110"/>
            <a:ext cx="251460" cy="251460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1051560" y="42062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chat answers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1051560" y="44805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gpt-oss-120b writes from retrieved context, not memory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760720" y="914400"/>
            <a:ext cx="2926080" cy="3520440"/>
          </a:xfrm>
          <a:prstGeom prst="roundRect">
            <a:avLst>
              <a:gd name="adj" fmla="val 3125"/>
            </a:avLst>
          </a:prstGeom>
          <a:solidFill>
            <a:srgbClr val="8B3A2F"/>
          </a:solidFill>
          <a:ln/>
          <a:effectLst>
            <a:outerShdw sx="100000" sy="100000" kx="0" ky="0" algn="bl" rotWithShape="0" blurRad="101600" dist="38100" dir="5400000">
              <a:srgbClr val="000000">
                <a:alpha val="25000"/>
              </a:srgbClr>
            </a:outerShdw>
          </a:effectLst>
        </p:spPr>
      </p:sp>
      <p:sp>
        <p:nvSpPr>
          <p:cNvPr id="21" name="Shape 15"/>
          <p:cNvSpPr/>
          <p:nvPr/>
        </p:nvSpPr>
        <p:spPr>
          <a:xfrm>
            <a:off x="6812280" y="1188720"/>
            <a:ext cx="822960" cy="82296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7446" y="1373886"/>
            <a:ext cx="452628" cy="452628"/>
          </a:xfrm>
          <a:prstGeom prst="rect">
            <a:avLst/>
          </a:prstGeom>
        </p:spPr>
      </p:pic>
      <p:sp>
        <p:nvSpPr>
          <p:cNvPr id="23" name="Text 16"/>
          <p:cNvSpPr txBox="1"/>
          <p:nvPr/>
        </p:nvSpPr>
        <p:spPr>
          <a:xfrm>
            <a:off x="5760720" y="2194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"मसाला दाल"</a:t>
            </a:r>
            <a:endParaRPr lang="en-US" sz="1800" dirty="0"/>
          </a:p>
        </p:txBody>
      </p:sp>
      <p:sp>
        <p:nvSpPr>
          <p:cNvPr id="24" name="Text 17"/>
          <p:cNvSpPr txBox="1"/>
          <p:nvPr/>
        </p:nvSpPr>
        <p:spPr>
          <a:xfrm>
            <a:off x="5760720" y="265176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translated → retrieved → answered</a:t>
            </a:r>
            <a:endParaRPr lang="en-US" sz="1050" dirty="0"/>
          </a:p>
        </p:txBody>
      </p:sp>
      <p:sp>
        <p:nvSpPr>
          <p:cNvPr id="25" name="Text 18"/>
          <p:cNvSpPr txBox="1"/>
          <p:nvPr/>
        </p:nvSpPr>
        <p:spPr>
          <a:xfrm>
            <a:off x="5760720" y="329184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chat box.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language.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recipes only.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9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It Works: RAG Pipeline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1554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8B3A2F"/>
          </a:solidFill>
          <a:ln/>
        </p:spPr>
      </p:sp>
      <p:sp>
        <p:nvSpPr>
          <p:cNvPr id="4" name="Shape 2"/>
          <p:cNvSpPr/>
          <p:nvPr/>
        </p:nvSpPr>
        <p:spPr>
          <a:xfrm>
            <a:off x="822960" y="1691640"/>
            <a:ext cx="548640" cy="54864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6404" y="181508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1148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Query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language</a:t>
            </a:r>
            <a:endParaRPr lang="en-US" sz="900" dirty="0"/>
          </a:p>
        </p:txBody>
      </p:sp>
      <p:sp>
        <p:nvSpPr>
          <p:cNvPr id="8" name="Text 5"/>
          <p:cNvSpPr txBox="1"/>
          <p:nvPr/>
        </p:nvSpPr>
        <p:spPr>
          <a:xfrm>
            <a:off x="178308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103120" y="1554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8B3A2F"/>
          </a:solidFill>
          <a:ln/>
        </p:spPr>
      </p:sp>
      <p:sp>
        <p:nvSpPr>
          <p:cNvPr id="10" name="Shape 7"/>
          <p:cNvSpPr/>
          <p:nvPr/>
        </p:nvSpPr>
        <p:spPr>
          <a:xfrm>
            <a:off x="2514600" y="1691640"/>
            <a:ext cx="548640" cy="54864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8044" y="1815084"/>
            <a:ext cx="301752" cy="30175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10312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210312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deep-translator</a:t>
            </a:r>
            <a:endParaRPr lang="en-US" sz="900" dirty="0"/>
          </a:p>
        </p:txBody>
      </p:sp>
      <p:sp>
        <p:nvSpPr>
          <p:cNvPr id="14" name="Text 10"/>
          <p:cNvSpPr txBox="1"/>
          <p:nvPr/>
        </p:nvSpPr>
        <p:spPr>
          <a:xfrm>
            <a:off x="347472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1"/>
          <p:cNvSpPr/>
          <p:nvPr/>
        </p:nvSpPr>
        <p:spPr>
          <a:xfrm>
            <a:off x="3794760" y="1554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8B3A2F"/>
          </a:solidFill>
          <a:ln/>
        </p:spPr>
      </p:sp>
      <p:sp>
        <p:nvSpPr>
          <p:cNvPr id="16" name="Shape 12"/>
          <p:cNvSpPr/>
          <p:nvPr/>
        </p:nvSpPr>
        <p:spPr>
          <a:xfrm>
            <a:off x="4206240" y="1691640"/>
            <a:ext cx="548640" cy="54864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29684" y="1815084"/>
            <a:ext cx="301752" cy="301752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379476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Dual Retrieval</a:t>
            </a:r>
            <a:endParaRPr lang="en-US" sz="1200" dirty="0"/>
          </a:p>
        </p:txBody>
      </p:sp>
      <p:sp>
        <p:nvSpPr>
          <p:cNvPr id="19" name="Text 14"/>
          <p:cNvSpPr txBox="1"/>
          <p:nvPr/>
        </p:nvSpPr>
        <p:spPr>
          <a:xfrm>
            <a:off x="379476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text + CLIP image</a:t>
            </a:r>
            <a:endParaRPr lang="en-US" sz="900" dirty="0"/>
          </a:p>
        </p:txBody>
      </p:sp>
      <p:sp>
        <p:nvSpPr>
          <p:cNvPr id="20" name="Text 15"/>
          <p:cNvSpPr txBox="1"/>
          <p:nvPr/>
        </p:nvSpPr>
        <p:spPr>
          <a:xfrm>
            <a:off x="516636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6"/>
          <p:cNvSpPr/>
          <p:nvPr/>
        </p:nvSpPr>
        <p:spPr>
          <a:xfrm>
            <a:off x="5486400" y="1554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8B3A2F"/>
          </a:solidFill>
          <a:ln/>
        </p:spPr>
      </p:sp>
      <p:sp>
        <p:nvSpPr>
          <p:cNvPr id="22" name="Shape 17"/>
          <p:cNvSpPr/>
          <p:nvPr/>
        </p:nvSpPr>
        <p:spPr>
          <a:xfrm>
            <a:off x="5897880" y="1691640"/>
            <a:ext cx="548640" cy="54864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1324" y="1815084"/>
            <a:ext cx="301752" cy="301752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548640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LLM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548640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</a:t>
            </a:r>
            <a:endParaRPr lang="en-US" sz="900" dirty="0"/>
          </a:p>
        </p:txBody>
      </p:sp>
      <p:sp>
        <p:nvSpPr>
          <p:cNvPr id="26" name="Text 20"/>
          <p:cNvSpPr txBox="1"/>
          <p:nvPr/>
        </p:nvSpPr>
        <p:spPr>
          <a:xfrm>
            <a:off x="6858000" y="210312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8B3A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7" name="Shape 21"/>
          <p:cNvSpPr/>
          <p:nvPr/>
        </p:nvSpPr>
        <p:spPr>
          <a:xfrm>
            <a:off x="7178040" y="1554480"/>
            <a:ext cx="1371600" cy="1554480"/>
          </a:xfrm>
          <a:prstGeom prst="roundRect">
            <a:avLst>
              <a:gd name="adj" fmla="val 5333"/>
            </a:avLst>
          </a:prstGeom>
          <a:solidFill>
            <a:srgbClr val="4A7C59"/>
          </a:solidFill>
          <a:ln/>
        </p:spPr>
      </p:sp>
      <p:sp>
        <p:nvSpPr>
          <p:cNvPr id="28" name="Shape 22"/>
          <p:cNvSpPr/>
          <p:nvPr/>
        </p:nvSpPr>
        <p:spPr>
          <a:xfrm>
            <a:off x="7589520" y="1691640"/>
            <a:ext cx="548640" cy="54864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2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12964" y="1815084"/>
            <a:ext cx="301752" cy="301752"/>
          </a:xfrm>
          <a:prstGeom prst="rect">
            <a:avLst/>
          </a:prstGeom>
        </p:spPr>
      </p:pic>
      <p:sp>
        <p:nvSpPr>
          <p:cNvPr id="30" name="Text 23"/>
          <p:cNvSpPr txBox="1"/>
          <p:nvPr/>
        </p:nvSpPr>
        <p:spPr>
          <a:xfrm>
            <a:off x="7178040" y="24231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Answer</a:t>
            </a:r>
            <a:endParaRPr lang="en-US" sz="1200" dirty="0"/>
          </a:p>
        </p:txBody>
      </p:sp>
      <p:sp>
        <p:nvSpPr>
          <p:cNvPr id="31" name="Text 24"/>
          <p:cNvSpPr txBox="1"/>
          <p:nvPr/>
        </p:nvSpPr>
        <p:spPr>
          <a:xfrm>
            <a:off x="7178040" y="27432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photo galleries</a:t>
            </a:r>
            <a:endParaRPr lang="en-US" sz="900" dirty="0"/>
          </a:p>
        </p:txBody>
      </p:sp>
      <p:sp>
        <p:nvSpPr>
          <p:cNvPr id="32" name="Text 25"/>
          <p:cNvSpPr txBox="1"/>
          <p:nvPr/>
        </p:nvSpPr>
        <p:spPr>
          <a:xfrm>
            <a:off x="457200" y="34290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text index (MiniLM embeddings) finds the closest-meaning recipes; the CLIP index finds visually similar dish photos independently — both feed into a single Gradio interface.</a:t>
            </a:r>
            <a:endParaRPr lang="en-US" sz="1100" dirty="0"/>
          </a:p>
        </p:txBody>
      </p:sp>
      <p:sp>
        <p:nvSpPr>
          <p:cNvPr id="33" name="Shape 26"/>
          <p:cNvSpPr/>
          <p:nvPr/>
        </p:nvSpPr>
        <p:spPr>
          <a:xfrm>
            <a:off x="411480" y="402336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E8C29C"/>
          </a:solidFill>
          <a:ln/>
        </p:spPr>
      </p:sp>
      <p:sp>
        <p:nvSpPr>
          <p:cNvPr id="34" name="Text 27"/>
          <p:cNvSpPr txBox="1"/>
          <p:nvPr/>
        </p:nvSpPr>
        <p:spPr>
          <a:xfrm>
            <a:off x="594360" y="41148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Index</a:t>
            </a:r>
            <a:endParaRPr lang="en-US" sz="1150" dirty="0"/>
          </a:p>
        </p:txBody>
      </p:sp>
      <p:sp>
        <p:nvSpPr>
          <p:cNvPr id="35" name="Text 28"/>
          <p:cNvSpPr txBox="1"/>
          <p:nvPr/>
        </p:nvSpPr>
        <p:spPr>
          <a:xfrm>
            <a:off x="594360" y="43891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sentence-transformers/all-MiniLM-L6-v2 → FAISS</a:t>
            </a:r>
            <a:endParaRPr lang="en-US" sz="1000" dirty="0"/>
          </a:p>
        </p:txBody>
      </p:sp>
      <p:sp>
        <p:nvSpPr>
          <p:cNvPr id="36" name="Shape 29"/>
          <p:cNvSpPr/>
          <p:nvPr/>
        </p:nvSpPr>
        <p:spPr>
          <a:xfrm>
            <a:off x="4617720" y="4023360"/>
            <a:ext cx="4114800" cy="685800"/>
          </a:xfrm>
          <a:prstGeom prst="roundRect">
            <a:avLst>
              <a:gd name="adj" fmla="val 6667"/>
            </a:avLst>
          </a:prstGeom>
          <a:solidFill>
            <a:srgbClr val="E8C29C"/>
          </a:solidFill>
          <a:ln/>
        </p:spPr>
      </p:sp>
      <p:sp>
        <p:nvSpPr>
          <p:cNvPr id="37" name="Text 30"/>
          <p:cNvSpPr txBox="1"/>
          <p:nvPr/>
        </p:nvSpPr>
        <p:spPr>
          <a:xfrm>
            <a:off x="4800600" y="411480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Index</a:t>
            </a:r>
            <a:endParaRPr lang="en-US" sz="1150" dirty="0"/>
          </a:p>
        </p:txBody>
      </p:sp>
      <p:sp>
        <p:nvSpPr>
          <p:cNvPr id="38" name="Text 31"/>
          <p:cNvSpPr txBox="1"/>
          <p:nvPr/>
        </p:nvSpPr>
        <p:spPr>
          <a:xfrm>
            <a:off x="4800600" y="43891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OpenCLIP ViT-B-32 (openai weights) → FAISS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A1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11480" y="114300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4" name="Shape 2"/>
          <p:cNvSpPr/>
          <p:nvPr/>
        </p:nvSpPr>
        <p:spPr>
          <a:xfrm>
            <a:off x="1143000" y="128016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6157" y="1393317"/>
            <a:ext cx="276606" cy="27660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2920" y="1920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UI, image galleries, session state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2514600" y="114300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9" name="Shape 6"/>
          <p:cNvSpPr/>
          <p:nvPr/>
        </p:nvSpPr>
        <p:spPr>
          <a:xfrm>
            <a:off x="3246120" y="128016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9277" y="1393317"/>
            <a:ext cx="276606" cy="27660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2606040" y="1920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LangChain</a:t>
            </a:r>
            <a:endParaRPr lang="en-US" sz="1100" dirty="0"/>
          </a:p>
        </p:txBody>
      </p:sp>
      <p:sp>
        <p:nvSpPr>
          <p:cNvPr id="12" name="Text 8"/>
          <p:cNvSpPr txBox="1"/>
          <p:nvPr/>
        </p:nvSpPr>
        <p:spPr>
          <a:xfrm>
            <a:off x="265176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Orchestrates retrieval + prompt + LLM chain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4617720" y="114300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14" name="Shape 10"/>
          <p:cNvSpPr/>
          <p:nvPr/>
        </p:nvSpPr>
        <p:spPr>
          <a:xfrm>
            <a:off x="5349240" y="128016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2397" y="1393317"/>
            <a:ext cx="276606" cy="27660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4709160" y="1920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</a:t>
            </a:r>
            <a:endParaRPr lang="en-US" sz="1100" dirty="0"/>
          </a:p>
        </p:txBody>
      </p:sp>
      <p:sp>
        <p:nvSpPr>
          <p:cNvPr id="17" name="Text 12"/>
          <p:cNvSpPr txBox="1"/>
          <p:nvPr/>
        </p:nvSpPr>
        <p:spPr>
          <a:xfrm>
            <a:off x="475488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similarity search, text &amp; image</a:t>
            </a:r>
            <a:endParaRPr lang="en-US" sz="850" dirty="0"/>
          </a:p>
        </p:txBody>
      </p:sp>
      <p:sp>
        <p:nvSpPr>
          <p:cNvPr id="18" name="Shape 13"/>
          <p:cNvSpPr/>
          <p:nvPr/>
        </p:nvSpPr>
        <p:spPr>
          <a:xfrm>
            <a:off x="6720840" y="114300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19" name="Shape 14"/>
          <p:cNvSpPr/>
          <p:nvPr/>
        </p:nvSpPr>
        <p:spPr>
          <a:xfrm>
            <a:off x="7452360" y="128016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5517" y="1393317"/>
            <a:ext cx="276606" cy="276606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6812280" y="192024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Sentence-Transformers</a:t>
            </a:r>
            <a:endParaRPr lang="en-US" sz="1100" dirty="0"/>
          </a:p>
        </p:txBody>
      </p:sp>
      <p:sp>
        <p:nvSpPr>
          <p:cNvPr id="22" name="Text 16"/>
          <p:cNvSpPr txBox="1"/>
          <p:nvPr/>
        </p:nvSpPr>
        <p:spPr>
          <a:xfrm>
            <a:off x="6858000" y="22402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MiniLM-L6-v2 text embeddings</a:t>
            </a:r>
            <a:endParaRPr lang="en-US" sz="850" dirty="0"/>
          </a:p>
        </p:txBody>
      </p:sp>
      <p:sp>
        <p:nvSpPr>
          <p:cNvPr id="23" name="Shape 17"/>
          <p:cNvSpPr/>
          <p:nvPr/>
        </p:nvSpPr>
        <p:spPr>
          <a:xfrm>
            <a:off x="411480" y="292608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24" name="Shape 18"/>
          <p:cNvSpPr/>
          <p:nvPr/>
        </p:nvSpPr>
        <p:spPr>
          <a:xfrm>
            <a:off x="1143000" y="306324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6157" y="3176397"/>
            <a:ext cx="276606" cy="276606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502920" y="3703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OpenCLIP</a:t>
            </a:r>
            <a:endParaRPr lang="en-US" sz="1100" dirty="0"/>
          </a:p>
        </p:txBody>
      </p:sp>
      <p:sp>
        <p:nvSpPr>
          <p:cNvPr id="27" name="Text 20"/>
          <p:cNvSpPr txBox="1"/>
          <p:nvPr/>
        </p:nvSpPr>
        <p:spPr>
          <a:xfrm>
            <a:off x="548640" y="40233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ViT-B-32 joint text/image embedding space</a:t>
            </a:r>
            <a:endParaRPr lang="en-US" sz="850" dirty="0"/>
          </a:p>
        </p:txBody>
      </p:sp>
      <p:sp>
        <p:nvSpPr>
          <p:cNvPr id="28" name="Shape 21"/>
          <p:cNvSpPr/>
          <p:nvPr/>
        </p:nvSpPr>
        <p:spPr>
          <a:xfrm>
            <a:off x="2514600" y="292608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29" name="Shape 22"/>
          <p:cNvSpPr/>
          <p:nvPr/>
        </p:nvSpPr>
        <p:spPr>
          <a:xfrm>
            <a:off x="3246120" y="306324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9277" y="3176397"/>
            <a:ext cx="276606" cy="276606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2606040" y="3703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API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2651760" y="40233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gpt-oss-120b generation, citation tags stripped for display</a:t>
            </a:r>
            <a:endParaRPr lang="en-US" sz="850" dirty="0"/>
          </a:p>
        </p:txBody>
      </p:sp>
      <p:sp>
        <p:nvSpPr>
          <p:cNvPr id="33" name="Shape 25"/>
          <p:cNvSpPr/>
          <p:nvPr/>
        </p:nvSpPr>
        <p:spPr>
          <a:xfrm>
            <a:off x="4617720" y="292608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34" name="Shape 26"/>
          <p:cNvSpPr/>
          <p:nvPr/>
        </p:nvSpPr>
        <p:spPr>
          <a:xfrm>
            <a:off x="5349240" y="306324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62397" y="3176397"/>
            <a:ext cx="276606" cy="276606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4709160" y="3703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deep-translator + langdetect</a:t>
            </a:r>
            <a:endParaRPr lang="en-US" sz="1100" dirty="0"/>
          </a:p>
        </p:txBody>
      </p:sp>
      <p:sp>
        <p:nvSpPr>
          <p:cNvPr id="37" name="Text 28"/>
          <p:cNvSpPr txBox="1"/>
          <p:nvPr/>
        </p:nvSpPr>
        <p:spPr>
          <a:xfrm>
            <a:off x="4754880" y="40233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Any-language query support</a:t>
            </a:r>
            <a:endParaRPr lang="en-US" sz="850" dirty="0"/>
          </a:p>
        </p:txBody>
      </p:sp>
      <p:sp>
        <p:nvSpPr>
          <p:cNvPr id="38" name="Shape 29"/>
          <p:cNvSpPr/>
          <p:nvPr/>
        </p:nvSpPr>
        <p:spPr>
          <a:xfrm>
            <a:off x="6720840" y="2926080"/>
            <a:ext cx="1965960" cy="1645920"/>
          </a:xfrm>
          <a:prstGeom prst="roundRect">
            <a:avLst>
              <a:gd name="adj" fmla="val 3333"/>
            </a:avLst>
          </a:prstGeom>
          <a:solidFill>
            <a:srgbClr val="38261F"/>
          </a:solidFill>
          <a:ln/>
        </p:spPr>
      </p:sp>
      <p:sp>
        <p:nvSpPr>
          <p:cNvPr id="39" name="Shape 30"/>
          <p:cNvSpPr/>
          <p:nvPr/>
        </p:nvSpPr>
        <p:spPr>
          <a:xfrm>
            <a:off x="7452360" y="3063240"/>
            <a:ext cx="502920" cy="50292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65517" y="3176397"/>
            <a:ext cx="276606" cy="276606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6812280" y="370332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LLM-judge harness</a:t>
            </a:r>
            <a:endParaRPr lang="en-US" sz="1100" dirty="0"/>
          </a:p>
        </p:txBody>
      </p:sp>
      <p:sp>
        <p:nvSpPr>
          <p:cNvPr id="42" name="Text 32"/>
          <p:cNvSpPr txBox="1"/>
          <p:nvPr/>
        </p:nvSpPr>
        <p:spPr>
          <a:xfrm>
            <a:off x="6858000" y="402336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/ relevancy scoring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9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Evaluating a RAG System: LLM-as-Judge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RAG apps have no ground-truth "correct answer" to check against. A separate LLM judge scores each generated answer against what was actually retrieved.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5" name="Shape 3"/>
          <p:cNvSpPr/>
          <p:nvPr/>
        </p:nvSpPr>
        <p:spPr>
          <a:xfrm>
            <a:off x="112471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7869" y="1896237"/>
            <a:ext cx="276606" cy="27660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Faithfulness (1–5)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answer grounded ONLY in retrieved recipe context — no invented ingredients or steps?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251460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10" name="Shape 7"/>
          <p:cNvSpPr/>
          <p:nvPr/>
        </p:nvSpPr>
        <p:spPr>
          <a:xfrm>
            <a:off x="322783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0989" y="1896237"/>
            <a:ext cx="276606" cy="276606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60604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Relevancy (1–5)</a:t>
            </a:r>
            <a:endParaRPr lang="en-US" sz="1150" dirty="0"/>
          </a:p>
        </p:txBody>
      </p:sp>
      <p:sp>
        <p:nvSpPr>
          <p:cNvPr id="13" name="Text 9"/>
          <p:cNvSpPr txBox="1"/>
          <p:nvPr/>
        </p:nvSpPr>
        <p:spPr>
          <a:xfrm>
            <a:off x="265176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answer actually address what the user asked for?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61772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15" name="Shape 11"/>
          <p:cNvSpPr/>
          <p:nvPr/>
        </p:nvSpPr>
        <p:spPr>
          <a:xfrm>
            <a:off x="533095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4109" y="1896237"/>
            <a:ext cx="276606" cy="276606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70916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Completeness (0/1)</a:t>
            </a:r>
            <a:endParaRPr lang="en-US" sz="1150" dirty="0"/>
          </a:p>
        </p:txBody>
      </p:sp>
      <p:sp>
        <p:nvSpPr>
          <p:cNvPr id="18" name="Text 13"/>
          <p:cNvSpPr txBox="1"/>
          <p:nvPr/>
        </p:nvSpPr>
        <p:spPr>
          <a:xfrm>
            <a:off x="475488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check: does the answer include both ingredients AND steps?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6720840" y="1645920"/>
            <a:ext cx="1965960" cy="1828800"/>
          </a:xfrm>
          <a:prstGeom prst="roundRect">
            <a:avLst>
              <a:gd name="adj" fmla="val 3000"/>
            </a:avLst>
          </a:prstGeom>
          <a:solidFill>
            <a:srgbClr val="8B3A2F"/>
          </a:solidFill>
          <a:ln/>
        </p:spPr>
      </p:sp>
      <p:sp>
        <p:nvSpPr>
          <p:cNvPr id="20" name="Shape 15"/>
          <p:cNvSpPr/>
          <p:nvPr/>
        </p:nvSpPr>
        <p:spPr>
          <a:xfrm>
            <a:off x="7434072" y="1783080"/>
            <a:ext cx="502920" cy="502920"/>
          </a:xfrm>
          <a:prstGeom prst="ellipse">
            <a:avLst/>
          </a:prstGeom>
          <a:solidFill>
            <a:srgbClr val="6B2A22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47229" y="1896237"/>
            <a:ext cx="276606" cy="276606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6812280" y="242316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 Rate</a:t>
            </a:r>
            <a:endParaRPr lang="en-US" sz="1150" dirty="0"/>
          </a:p>
        </p:txBody>
      </p:sp>
      <p:sp>
        <p:nvSpPr>
          <p:cNvPr id="23" name="Text 17"/>
          <p:cNvSpPr txBox="1"/>
          <p:nvPr/>
        </p:nvSpPr>
        <p:spPr>
          <a:xfrm>
            <a:off x="6858000" y="2743200"/>
            <a:ext cx="1691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keyword check: did retrieval actually surface the right dish?</a:t>
            </a:r>
            <a:endParaRPr lang="en-US" sz="8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9319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methodology choice: each test case is run once, and the answers are consistent. Truncation was also removed so no information is lost.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9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Evaluation Results</a:t>
            </a:r>
            <a:endParaRPr lang="en-US" sz="2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686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Averaged across 4 baseline runs, then re-validated after fixes</a:t>
            </a:r>
            <a:endParaRPr lang="en-US" sz="11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365760" y="1188720"/>
          <a:ext cx="57607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6400800" y="1188720"/>
            <a:ext cx="2286000" cy="804672"/>
          </a:xfrm>
          <a:prstGeom prst="roundRect">
            <a:avLst>
              <a:gd name="adj" fmla="val 6818"/>
            </a:avLst>
          </a:prstGeom>
          <a:solidFill>
            <a:srgbClr val="8B3A2F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92240" y="126187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4.6/5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6492240" y="16459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 faithfulness (23 of 25 cases scored 5)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6400800" y="2084832"/>
            <a:ext cx="2286000" cy="804672"/>
          </a:xfrm>
          <a:prstGeom prst="roundRect">
            <a:avLst>
              <a:gd name="adj" fmla="val 6818"/>
            </a:avLst>
          </a:prstGeom>
          <a:solidFill>
            <a:srgbClr val="8B3A2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6492240" y="215798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99.2%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25420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 accuracy (deterministic check)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6400800" y="2980944"/>
            <a:ext cx="2286000" cy="804672"/>
          </a:xfrm>
          <a:prstGeom prst="roundRect">
            <a:avLst>
              <a:gd name="adj" fmla="val 6818"/>
            </a:avLst>
          </a:prstGeom>
          <a:solidFill>
            <a:srgbClr val="8B3A2F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6492240" y="305409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92%</a:t>
            </a:r>
            <a:endParaRPr lang="en-US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6492240" y="3438144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 Hit Rate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6400800" y="3877056"/>
            <a:ext cx="2286000" cy="804672"/>
          </a:xfrm>
          <a:prstGeom prst="roundRect">
            <a:avLst>
              <a:gd name="adj" fmla="val 6818"/>
            </a:avLst>
          </a:prstGeom>
          <a:solidFill>
            <a:srgbClr val="8B3A2F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492240" y="3950208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0%</a:t>
            </a:r>
            <a:endParaRPr lang="en-US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6492240" y="4334256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Genuine model errors (2 quota 429s)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A1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20040"/>
            <a:ext cx="594360" cy="59436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0931" y="453771"/>
            <a:ext cx="326898" cy="32689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188720" y="32004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Before / After: Closing the Faithfulness Gap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10972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C2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runs showed the model blending its own training-data knowledge into answers for globally-famous dishes, even when it contradicted the retrieved recipe. A citation-forcing prompt rewrite — every claim tagged to its source recipe — closed that gap entirely.</a:t>
            </a:r>
            <a:endParaRPr lang="en-US" sz="115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1783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Dish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420624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7C7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2075688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Carbonara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4206240" y="20756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8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07568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D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457200" y="236829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Tiramisu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3682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8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1/5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5852160" y="23682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D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457200" y="26609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Tikka Masala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4206240" y="2660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8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1/5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5852160" y="2660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D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57200" y="2953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Shrimp Dumplings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206240" y="2953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8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2/5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5852160" y="295351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D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457200" y="32461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Naan / Crêpes / Paneer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4206240" y="3246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08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2–3/5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5852160" y="3246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D1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5/5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457200" y="3794760"/>
            <a:ext cx="8229600" cy="868680"/>
          </a:xfrm>
          <a:prstGeom prst="roundRect">
            <a:avLst>
              <a:gd name="adj" fmla="val 8421"/>
            </a:avLst>
          </a:prstGeom>
          <a:solidFill>
            <a:srgbClr val="4A7C59"/>
          </a:solidFill>
          <a:ln/>
        </p:spPr>
      </p:sp>
      <p:sp>
        <p:nvSpPr>
          <p:cNvPr id="25" name="Shape 22"/>
          <p:cNvSpPr/>
          <p:nvPr/>
        </p:nvSpPr>
        <p:spPr>
          <a:xfrm>
            <a:off x="640080" y="4005072"/>
            <a:ext cx="457200" cy="457200"/>
          </a:xfrm>
          <a:prstGeom prst="ellipse">
            <a:avLst/>
          </a:prstGeom>
          <a:solidFill>
            <a:srgbClr val="3A6347"/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2950" y="4107942"/>
            <a:ext cx="251460" cy="251460"/>
          </a:xfrm>
          <a:prstGeom prst="rect">
            <a:avLst/>
          </a:prstGeom>
        </p:spPr>
      </p:pic>
      <p:sp>
        <p:nvSpPr>
          <p:cNvPr id="27" name="Text 23"/>
          <p:cNvSpPr txBox="1"/>
          <p:nvPr/>
        </p:nvSpPr>
        <p:spPr>
          <a:xfrm>
            <a:off x="1325880" y="3886200"/>
            <a:ext cx="7223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of 8 cases with 100% verified citations jumped straight to 5/5 once the judge could see all 5 retrieved recipes (not just the first 2) and had enough token budget to finish its verdict.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191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Engineering Challenges &amp; Fixes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" name="Shape 2"/>
          <p:cNvSpPr/>
          <p:nvPr/>
        </p:nvSpPr>
        <p:spPr>
          <a:xfrm>
            <a:off x="640080" y="1234440"/>
            <a:ext cx="548640" cy="54864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" y="1357884"/>
            <a:ext cx="301752" cy="30175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417320" y="109728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Citation-forcing + verification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10972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now tags every claim to its source recipe; a separate non-LLM check verifies each tag against real retrieved titles (99%+ accurate)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57200" y="2029968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640080" y="2167128"/>
            <a:ext cx="548640" cy="54864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" y="2290572"/>
            <a:ext cx="301752" cy="30175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417320" y="2029968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context truncation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4297680" y="2029968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only saw ~2 of 5 retrieved recipes on long comparisons — removed truncation entirely so it sees everything the generator did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457200" y="2962656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40080" y="3099816"/>
            <a:ext cx="548640" cy="54864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524" y="3223260"/>
            <a:ext cx="301752" cy="30175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417320" y="2962656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judge output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4297680" y="2962656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 models (gpt-oss) can exhaust their token budget on hidden reasoning before writing a verdict — raised max_tokens</a:t>
            </a:r>
            <a:endParaRPr lang="en-US" sz="950" dirty="0"/>
          </a:p>
        </p:txBody>
      </p:sp>
      <p:sp>
        <p:nvSpPr>
          <p:cNvPr id="18" name="Shape 13"/>
          <p:cNvSpPr/>
          <p:nvPr/>
        </p:nvSpPr>
        <p:spPr>
          <a:xfrm>
            <a:off x="457200" y="3895344"/>
            <a:ext cx="8229600" cy="82296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Shape 14"/>
          <p:cNvSpPr/>
          <p:nvPr/>
        </p:nvSpPr>
        <p:spPr>
          <a:xfrm>
            <a:off x="640080" y="4032504"/>
            <a:ext cx="548640" cy="548640"/>
          </a:xfrm>
          <a:prstGeom prst="ellipse">
            <a:avLst/>
          </a:prstGeom>
          <a:solidFill>
            <a:srgbClr val="8B3A2F"/>
          </a:solidFill>
          <a:ln/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" y="4155948"/>
            <a:ext cx="301752" cy="30175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17320" y="3895344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A19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Groq daily (not per-minute) quota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4297680" y="3895344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E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429 that no retry-sleep fixed — turned out to be a 200k-tokens/day cap, confirmed from the raw API error text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A19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Skills Demonstrated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9496" y="1271016"/>
            <a:ext cx="201168" cy="20116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960120" y="11887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system design (dual retrieval: text + image)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173736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" y="181965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7373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Multilingual NLP pipelines</a:t>
            </a:r>
            <a:endParaRPr lang="en-US" sz="1300" dirty="0"/>
          </a:p>
        </p:txBody>
      </p:sp>
      <p:sp>
        <p:nvSpPr>
          <p:cNvPr id="9" name="Shape 5"/>
          <p:cNvSpPr/>
          <p:nvPr/>
        </p:nvSpPr>
        <p:spPr>
          <a:xfrm>
            <a:off x="457200" y="228600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" y="2368296"/>
            <a:ext cx="201168" cy="2011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60120" y="2286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evaluation, cross-checked with deterministic verification</a:t>
            </a:r>
            <a:endParaRPr lang="en-US" sz="1300" dirty="0"/>
          </a:p>
        </p:txBody>
      </p:sp>
      <p:sp>
        <p:nvSpPr>
          <p:cNvPr id="12" name="Shape 7"/>
          <p:cNvSpPr/>
          <p:nvPr/>
        </p:nvSpPr>
        <p:spPr>
          <a:xfrm>
            <a:off x="457200" y="283464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" y="2916936"/>
            <a:ext cx="201168" cy="20116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960120" y="283464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that measurably closed a faithfulness gap (3.41 → 5.0/5)</a:t>
            </a:r>
            <a:endParaRPr lang="en-US" sz="1300" dirty="0"/>
          </a:p>
        </p:txBody>
      </p:sp>
      <p:sp>
        <p:nvSpPr>
          <p:cNvPr id="15" name="Shape 9"/>
          <p:cNvSpPr/>
          <p:nvPr/>
        </p:nvSpPr>
        <p:spPr>
          <a:xfrm>
            <a:off x="457200" y="338328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1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496" y="3465576"/>
            <a:ext cx="201168" cy="201168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960120" y="33832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resilience: distinguishing infra failures (daily quotas) from real model errors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457200" y="3931920"/>
            <a:ext cx="365760" cy="365760"/>
          </a:xfrm>
          <a:prstGeom prst="ellipse">
            <a:avLst/>
          </a:prstGeom>
          <a:solidFill>
            <a:srgbClr val="4A7C59"/>
          </a:solidFill>
          <a:ln/>
        </p:spPr>
      </p:sp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" y="4014216"/>
            <a:ext cx="201168" cy="201168"/>
          </a:xfrm>
          <a:prstGeom prst="rect">
            <a:avLst/>
          </a:prstGeom>
        </p:spPr>
      </p:pic>
      <p:sp>
        <p:nvSpPr>
          <p:cNvPr id="20" name="Text 12"/>
          <p:cNvSpPr txBox="1"/>
          <p:nvPr/>
        </p:nvSpPr>
        <p:spPr>
          <a:xfrm>
            <a:off x="960120" y="39319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Root-cause debugging of eval-harness bias, not just accepting the score</a:t>
            </a:r>
            <a:endParaRPr lang="en-US" sz="1300" dirty="0"/>
          </a:p>
        </p:txBody>
      </p:sp>
      <p:sp>
        <p:nvSpPr>
          <p:cNvPr id="21" name="Text 13"/>
          <p:cNvSpPr txBox="1"/>
          <p:nvPr/>
        </p:nvSpPr>
        <p:spPr>
          <a:xfrm>
            <a:off x="45720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E8C29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Crave It · Search It · Cook It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2026-09-24T04:35:38Z</dcterms:created>
  <dcterms:modified xsi:type="dcterms:W3CDTF">2026-09-24T04:35:38Z</dcterms:modified>
</cp:coreProperties>
</file>