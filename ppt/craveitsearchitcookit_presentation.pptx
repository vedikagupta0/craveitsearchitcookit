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1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  <Relationship Id="rId16" Type="http://schemas.openxmlformats.org/officeDocument/2006/relationships/slide" Target="slides/slide10.xml"/>
  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(4-run avg, before fixes)</c:v>
                </c:pt>
              </c:strCache>
            </c:strRef>
          </c:tx>
          <c:spPr>
            <a:solidFill>
              <a:srgbClr val="D9A48F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19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Completeness</c:v>
                  </c:pt>
                  <c:pt idx="3">
                    <c:v>Retrieval Hit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3.4</c:v>
                </c:pt>
                <c:pt idx="1">
                  <c:v>4.5</c:v>
                </c:pt>
                <c:pt idx="2">
                  <c:v>4</c:v>
                </c:pt>
                <c:pt idx="3">
                  <c:v>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Final (30-case run)</c:v>
                </c:pt>
              </c:strCache>
            </c:strRef>
          </c:tx>
          <c:spPr>
            <a:solidFill>
              <a:srgbClr val="8B3A2F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19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Completeness</c:v>
                  </c:pt>
                  <c:pt idx="3">
                    <c:v>Retrieval Hit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4.93</c:v>
                </c:pt>
                <c:pt idx="1">
                  <c:v>5</c:v>
                </c:pt>
                <c:pt idx="2">
                  <c:v>3.35</c:v>
                </c:pt>
                <c:pt idx="3">
                  <c:v>4.65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900" u="none">
                  <a:solidFill>
                    <a:srgbClr val="2A19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9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DC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E5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5E5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21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Crave It · Search It · Cook It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Multimodal Recipe RAG Assistant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0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Multilingual &amp; Multimodal Retrieval · LLM-as-Judge Evaluation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· FAISS · OpenCLIP · Groq gpt-oss-120b · Gradio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Does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chat-based recipe assistant that understands any-language queries, finds the closest matching recipes by meaning, surfaces visually similar dish photos, and generates a grounded, chef-style answer from real retrieved recipes.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19773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874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by default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148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(Lingua) &amp; translates 70+ languages before retrieval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65176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" y="275463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recipe search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2926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+ MiniLM embeddings for meaning-based search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342900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" y="353187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34290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dish matching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51560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finds visually similar dishes, even across languages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420624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70" y="430911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42062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chat answers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0515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gpt-oss-120b writes from retrieved context, not memory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760720" y="914400"/>
            <a:ext cx="2926080" cy="3520440"/>
          </a:xfrm>
          <a:prstGeom prst="roundRect">
            <a:avLst>
              <a:gd name="adj" fmla="val 3125"/>
            </a:avLst>
          </a:prstGeom>
          <a:solidFill>
            <a:srgbClr val="8B3A2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812280" y="11887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446" y="1373886"/>
            <a:ext cx="452628" cy="45262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76072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"मसाला दाल"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5760720" y="2651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translated → retrieved → answered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5760720" y="3291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box.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language.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recipes only.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Works: RAG Pipeline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" y="181508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language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10312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10" name="Shape 7"/>
          <p:cNvSpPr/>
          <p:nvPr/>
        </p:nvSpPr>
        <p:spPr>
          <a:xfrm>
            <a:off x="251460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44" y="181508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0312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031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 + deep-translator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79476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16" name="Shape 12"/>
          <p:cNvSpPr/>
          <p:nvPr/>
        </p:nvSpPr>
        <p:spPr>
          <a:xfrm>
            <a:off x="420624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181508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79476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Retrieval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text + CLIP image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22" name="Shape 17"/>
          <p:cNvSpPr/>
          <p:nvPr/>
        </p:nvSpPr>
        <p:spPr>
          <a:xfrm>
            <a:off x="589788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324" y="1815084"/>
            <a:ext cx="301752" cy="30175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717804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4A7C59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52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2964" y="1815084"/>
            <a:ext cx="301752" cy="30175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photo galleries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index (MiniLM embeddings) finds the closest-meaning recipes; the CLIP index finds visually similar dish photos independently — both feed into a single Gradio interface.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411480" y="4023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E8C29C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94360" y="4114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Index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594360" y="43891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sentence-transformers/all-MiniLM-L6-v2 → FAISS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4617720" y="4023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E8C29C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4800600" y="4114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Index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4800600" y="43891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OpenCLIP ViT-B-32 (openai weights) → FAISS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6157" y="1393317"/>
            <a:ext cx="276606" cy="2766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UI, image galleries, session state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51460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9" name="Shape 6"/>
          <p:cNvSpPr/>
          <p:nvPr/>
        </p:nvSpPr>
        <p:spPr>
          <a:xfrm>
            <a:off x="324612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277" y="1393317"/>
            <a:ext cx="276606" cy="27660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265176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retrieval + prompt + LLM chain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1772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14" name="Shape 10"/>
          <p:cNvSpPr/>
          <p:nvPr/>
        </p:nvSpPr>
        <p:spPr>
          <a:xfrm>
            <a:off x="534924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397" y="1393317"/>
            <a:ext cx="276606" cy="27660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0916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75488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similarity search, text &amp; image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72084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19" name="Shape 14"/>
          <p:cNvSpPr/>
          <p:nvPr/>
        </p:nvSpPr>
        <p:spPr>
          <a:xfrm>
            <a:off x="745236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517" y="1393317"/>
            <a:ext cx="276606" cy="27660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1228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MiniLM-L6-v2 text embeddings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148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24" name="Shape 18"/>
          <p:cNvSpPr/>
          <p:nvPr/>
        </p:nvSpPr>
        <p:spPr>
          <a:xfrm>
            <a:off x="114300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157" y="3176397"/>
            <a:ext cx="276606" cy="27660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0292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OpenCLIP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ViT-B-32 joint text/image embedding space</a:t>
            </a:r>
            <a:endParaRPr lang="en-US" sz="850" dirty="0"/>
          </a:p>
        </p:txBody>
      </p:sp>
      <p:sp>
        <p:nvSpPr>
          <p:cNvPr id="28" name="Shape 21"/>
          <p:cNvSpPr/>
          <p:nvPr/>
        </p:nvSpPr>
        <p:spPr>
          <a:xfrm>
            <a:off x="251460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29" name="Shape 22"/>
          <p:cNvSpPr/>
          <p:nvPr/>
        </p:nvSpPr>
        <p:spPr>
          <a:xfrm>
            <a:off x="324612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9277" y="3176397"/>
            <a:ext cx="276606" cy="27660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60604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265176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 generation, citation tags stripped for display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461772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34" name="Shape 26"/>
          <p:cNvSpPr/>
          <p:nvPr/>
        </p:nvSpPr>
        <p:spPr>
          <a:xfrm>
            <a:off x="534924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2397" y="3176397"/>
            <a:ext cx="276606" cy="276606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70916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deep-translator + Lingua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475488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detection + translation</a:t>
            </a:r>
            <a:endParaRPr lang="en-US" sz="850" dirty="0"/>
          </a:p>
        </p:txBody>
      </p:sp>
      <p:sp>
        <p:nvSpPr>
          <p:cNvPr id="38" name="Shape 29"/>
          <p:cNvSpPr/>
          <p:nvPr/>
        </p:nvSpPr>
        <p:spPr>
          <a:xfrm>
            <a:off x="672084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39" name="Shape 30"/>
          <p:cNvSpPr/>
          <p:nvPr/>
        </p:nvSpPr>
        <p:spPr>
          <a:xfrm>
            <a:off x="745236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5517" y="3176397"/>
            <a:ext cx="276606" cy="27660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81228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LLM-judge harness</a:t>
            </a:r>
            <a:endParaRPr lang="en-US" sz="1100" dirty="0"/>
          </a:p>
        </p:txBody>
      </p:sp>
      <p:sp>
        <p:nvSpPr>
          <p:cNvPr id="42" name="Text 32"/>
          <p:cNvSpPr txBox="1"/>
          <p:nvPr/>
        </p:nvSpPr>
        <p:spPr>
          <a:xfrm>
            <a:off x="685800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/ relevancy scoring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Evaluating a RAG System: LLM-as-Judge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RAG apps have no ground-truth "correct answer" to check against. A separate LLM judge scores each generated answer against what was actually retrieved.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7869" y="1896237"/>
            <a:ext cx="276606" cy="2766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(1–5)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answer grounded ONLY in retrieved recipe context — no invented ingredients or steps?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51460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10" name="Shape 7"/>
          <p:cNvSpPr/>
          <p:nvPr/>
        </p:nvSpPr>
        <p:spPr>
          <a:xfrm>
            <a:off x="322783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989" y="1896237"/>
            <a:ext cx="276606" cy="27660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0604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(1–5)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65176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answer actually address what the user asked for?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61772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15" name="Shape 11"/>
          <p:cNvSpPr/>
          <p:nvPr/>
        </p:nvSpPr>
        <p:spPr>
          <a:xfrm>
            <a:off x="533095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109" y="1896237"/>
            <a:ext cx="276606" cy="27660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0916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(0/1)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75488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check: does the answer include both ingredients AND steps?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72084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20" name="Shape 15"/>
          <p:cNvSpPr/>
          <p:nvPr/>
        </p:nvSpPr>
        <p:spPr>
          <a:xfrm>
            <a:off x="743407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229" y="1896237"/>
            <a:ext cx="276606" cy="27660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1228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 Rate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keyword check: did retrieval actually surface the right dish?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methodology choice: each test case is run once, and the answers are consistent. Truncation was also removed. A correct “no match” answer scores 5/5.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Results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30-case run vs earlier 4-run baseline. Completeness and Retrieval Hit shown as rate × 5.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188720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92240" y="12618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4.93/5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645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faithfulness (28 of 30 cases scored 5)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400800" y="2084832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2157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99.1%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 (deterministic check)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0" y="2980944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30540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4381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 Rate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400800" y="3877056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2240" y="3950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3342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errors (0 of 30 cases)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94360" cy="59436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931" y="453771"/>
            <a:ext cx="326898" cy="3268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2004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/ After: Closing the Faithfulness Gap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runs showed the model blending its own training-data knowledge into answers for globally-famous dishes, even when it contradicted the retrieved recipe. A citation-forcing prompt rewrite — every claim tagged to its source recipe — closed that gap entirely.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0756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Carbonara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0756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0756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3682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Tiramisu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368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0" y="2368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660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Tikka Masala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206240" y="2660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852160" y="2660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2953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Shrimp Dumplings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2953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852160" y="2953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Naan / Crêpes / Paneer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206240" y="3246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2–3/5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852160" y="3246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4A7C59"/>
          </a:solidFill>
          <a:ln/>
        </p:spPr>
      </p:sp>
      <p:sp>
        <p:nvSpPr>
          <p:cNvPr id="25" name="Shape 22"/>
          <p:cNvSpPr/>
          <p:nvPr/>
        </p:nvSpPr>
        <p:spPr>
          <a:xfrm>
            <a:off x="640080" y="4005072"/>
            <a:ext cx="457200" cy="457200"/>
          </a:xfrm>
          <a:prstGeom prst="ellipse">
            <a:avLst/>
          </a:prstGeom>
          <a:solidFill>
            <a:srgbClr val="3A6347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107942"/>
            <a:ext cx="251460" cy="2514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25880" y="38862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8 cases with 100% verified citations jumped straight to 5/5 once the judge could see all 5 retrieved recipes (not just the first 2) and had enough token budget to finish its verdict.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Challenges &amp; Fixes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35788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0972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Citation-forcing + verification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097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now tags every claim to its source recipe; a separate non-LLM check verifies each tag against real retrieved titles (99%+ accurate)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20299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167128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2290572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0299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context truncation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202996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only saw ~2 of 5 retrieved recipes on long comparisons — removed truncation entirely so it sees everything the generator did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296265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3099816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223260"/>
            <a:ext cx="301752" cy="30175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296265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judge output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96265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(gpt-oss) can exhaust their token budget on hidden reasoning before writing a verdict — raised max_tokens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57200" y="389534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0080" y="4032504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4155948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89534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daily (not per-minute) quota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297680" y="3895344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429 that no retry-sleep fixed — turned out to be a 200k-tokens/day cap, confirmed from the raw API error text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Demonstrated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271016"/>
            <a:ext cx="201168" cy="201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system design (dual retrieval: text + image)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965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7373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NLP pipelines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368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evaluation, cross-checked with deterministic verification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291693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2834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that measurably closed a faithfulness gap (3.41 → 5.0/5)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3465576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60120" y="3383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resilience: distinguishing infra failures (daily quotas) from real model errors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" y="4014216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601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debugging of eval-harness bias, not just accepting the score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45720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C2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Crave It · Search It · Cook It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Dataset: 30 Cases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from 25 to 30 queries to test refusal and near-miss behaviour, not just easy hits.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7869" y="1896237"/>
            <a:ext cx="276606" cy="2766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Baseline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present in the corpus, incl. 5 non-English queries (Hindi, French, Spanish, Russian, Chinese).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51460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10" name="Shape 7"/>
          <p:cNvSpPr/>
          <p:nvPr/>
        </p:nvSpPr>
        <p:spPr>
          <a:xfrm>
            <a:off x="322783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989" y="1896237"/>
            <a:ext cx="276606" cy="27660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0604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Not in dataset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65176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Beef rendang, churros with chocolate sauce. Correct answer: no relevant recipe found.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61772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15" name="Shape 11"/>
          <p:cNvSpPr/>
          <p:nvPr/>
        </p:nvSpPr>
        <p:spPr>
          <a:xfrm>
            <a:off x="533095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109" y="1896237"/>
            <a:ext cx="276606" cy="27660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0916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Ambiguous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75488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Sushi egg roll, seafood carbonara, mango cheesecake. Family exists, exact dish does not.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72084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20" name="Shape 15"/>
          <p:cNvSpPr/>
          <p:nvPr/>
        </p:nvSpPr>
        <p:spPr>
          <a:xfrm>
            <a:off x="743407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229" y="1896237"/>
            <a:ext cx="276606" cy="27660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1228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5 of 5 refused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answered “No relevant recipes found” and scored 5/5. No made-up recipes.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refused seafood carbonara, sushi egg roll and mango cheesecake, even though related recipes exist in the corpus.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2026-09-24T04:35:38Z</dcterms:created>
  <dcterms:modified xsi:type="dcterms:W3CDTF">2026-09-24T04:35:38Z</dcterms:modified>
</cp:coreProperties>
</file>