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1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  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(4-run avg, before fixes)</c:v>
                </c:pt>
              </c:strCache>
            </c:strRef>
          </c:tx>
          <c:spPr>
            <a:solidFill>
              <a:srgbClr val="D9A48F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19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Completeness</c:v>
                  </c:pt>
                  <c:pt idx="3">
                    <c:v>Retrieval Hit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</c:v>
                </c:pt>
                <c:pt idx="1">
                  <c:v>4.5</c:v>
                </c:pt>
                <c:pt idx="2">
                  <c:v>4</c:v>
                </c:pt>
                <c:pt idx="3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(30-case run)</c:v>
                </c:pt>
              </c:strCache>
            </c:strRef>
          </c:tx>
          <c:spPr>
            <a:solidFill>
              <a:srgbClr val="8B3A2F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19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Completeness</c:v>
                  </c:pt>
                  <c:pt idx="3">
                    <c:v>Retrieval Hit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4.93</c:v>
                </c:pt>
                <c:pt idx="1">
                  <c:v>5</c:v>
                </c:pt>
                <c:pt idx="2">
                  <c:v>3.35</c:v>
                </c:pt>
                <c:pt idx="3">
                  <c:v>4.65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2A19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19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5DC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E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5E5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6012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Crave It · Search It · Cook It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Recipe RAG Assistant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09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Multilingual &amp; Multimodal Retrieval · LLM-as-Judge Evaluation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FAISS · OpenCLIP · Groq gpt-oss-120b · Gradio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chat-based recipe assistant that understands any-language queries, finds the closest matching recipes by meaning, surfaces visually similar dish photos, and generates a grounded, chef-style answer from real retrieved recipes.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19773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default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&amp; translates 20+ languages before retrieval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27546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651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recipe search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MiniLM embeddings for meaning-based search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35318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dish matching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finds visually similar dishes, even across languages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43091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4206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answers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4480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gpt-oss-120b writes from retrieved context, not memory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760720" y="914400"/>
            <a:ext cx="2926080" cy="3520440"/>
          </a:xfrm>
          <a:prstGeom prst="roundRect">
            <a:avLst>
              <a:gd name="adj" fmla="val 3125"/>
            </a:avLst>
          </a:prstGeom>
          <a:solidFill>
            <a:srgbClr val="8B3A2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812280" y="1188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446" y="1373886"/>
            <a:ext cx="452628" cy="45262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607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"मसाला दाल"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576072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translated → retrieved → answered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576072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box.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recipes only.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RAG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8B3A2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8150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03120" y="155448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8B3A2F"/>
          </a:solidFill>
          <a:ln/>
        </p:spPr>
      </p:sp>
      <p:sp>
        <p:nvSpPr>
          <p:cNvPr id="10" name="Shape 7"/>
          <p:cNvSpPr/>
          <p:nvPr/>
        </p:nvSpPr>
        <p:spPr>
          <a:xfrm>
            <a:off x="2514600" y="1691640"/>
            <a:ext cx="548640" cy="54864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44" y="18150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0312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10312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794760" y="155448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8B3A2F"/>
          </a:solidFill>
          <a:ln/>
        </p:spPr>
      </p:sp>
      <p:sp>
        <p:nvSpPr>
          <p:cNvPr id="16" name="Shape 12"/>
          <p:cNvSpPr/>
          <p:nvPr/>
        </p:nvSpPr>
        <p:spPr>
          <a:xfrm>
            <a:off x="4206240" y="1691640"/>
            <a:ext cx="548640" cy="54864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18150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947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text + CLIP image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16636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486400" y="155448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8B3A2F"/>
          </a:solidFill>
          <a:ln/>
        </p:spPr>
      </p:sp>
      <p:sp>
        <p:nvSpPr>
          <p:cNvPr id="22" name="Shape 17"/>
          <p:cNvSpPr/>
          <p:nvPr/>
        </p:nvSpPr>
        <p:spPr>
          <a:xfrm>
            <a:off x="5897880" y="1691640"/>
            <a:ext cx="548640" cy="54864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324" y="181508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864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178040" y="1554480"/>
            <a:ext cx="1371600" cy="1554480"/>
          </a:xfrm>
          <a:prstGeom prst="roundRect">
            <a:avLst>
              <a:gd name="adj" fmla="val 5333"/>
            </a:avLst>
          </a:prstGeom>
          <a:solidFill>
            <a:srgbClr val="4A7C59"/>
          </a:solidFill>
          <a:ln/>
        </p:spPr>
      </p:sp>
      <p:sp>
        <p:nvSpPr>
          <p:cNvPr id="28" name="Shape 22"/>
          <p:cNvSpPr/>
          <p:nvPr/>
        </p:nvSpPr>
        <p:spPr>
          <a:xfrm>
            <a:off x="7589520" y="1691640"/>
            <a:ext cx="548640" cy="54864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2964" y="1815084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780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1780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galleries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index (MiniLM embeddings) finds the closest-meaning recipes; the CLIP index finds visually similar dish photos independently — both feed into a single Gradio interface.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11480" y="402336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E8C29C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9436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Index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594360" y="4389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→ FAISS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617720" y="402336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E8C29C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480060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Index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4800600" y="4389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OpenCLIP ViT-B-32 (openai weights) → FAISS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1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128016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157" y="139331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image galleries, session state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14600" y="114300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9" name="Shape 6"/>
          <p:cNvSpPr/>
          <p:nvPr/>
        </p:nvSpPr>
        <p:spPr>
          <a:xfrm>
            <a:off x="3246120" y="128016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277" y="139331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retrieval + prompt + LLM chain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17720" y="114300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14" name="Shape 10"/>
          <p:cNvSpPr/>
          <p:nvPr/>
        </p:nvSpPr>
        <p:spPr>
          <a:xfrm>
            <a:off x="5349240" y="128016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397" y="13933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0916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search, text &amp; image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720840" y="114300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19" name="Shape 14"/>
          <p:cNvSpPr/>
          <p:nvPr/>
        </p:nvSpPr>
        <p:spPr>
          <a:xfrm>
            <a:off x="7452360" y="128016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517" y="139331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 text embeddings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11480" y="29260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24" name="Shape 18"/>
          <p:cNvSpPr/>
          <p:nvPr/>
        </p:nvSpPr>
        <p:spPr>
          <a:xfrm>
            <a:off x="1143000" y="306324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157" y="3176397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29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OpenCLIP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ViT-B-32 joint text/image embedding space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2514600" y="29260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29" name="Shape 22"/>
          <p:cNvSpPr/>
          <p:nvPr/>
        </p:nvSpPr>
        <p:spPr>
          <a:xfrm>
            <a:off x="3246120" y="306324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277" y="3176397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060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265176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generation, citation tags stripped for display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617720" y="29260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34" name="Shape 26"/>
          <p:cNvSpPr/>
          <p:nvPr/>
        </p:nvSpPr>
        <p:spPr>
          <a:xfrm>
            <a:off x="5349240" y="306324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2397" y="3176397"/>
            <a:ext cx="276606" cy="27660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70916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 + langdetect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475488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Any-language query support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6720840" y="29260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38261F"/>
          </a:solidFill>
          <a:ln/>
        </p:spPr>
      </p:sp>
      <p:sp>
        <p:nvSpPr>
          <p:cNvPr id="39" name="Shape 30"/>
          <p:cNvSpPr/>
          <p:nvPr/>
        </p:nvSpPr>
        <p:spPr>
          <a:xfrm>
            <a:off x="7452360" y="3063240"/>
            <a:ext cx="502920" cy="50292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517" y="3176397"/>
            <a:ext cx="276606" cy="27660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1228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LLM-judge harness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6858000" y="4023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relevancy scoring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 RAG System: LLM-as-Judge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apps have no ground-truth "correct answer" to check against. A separate LLM judge scores each generated answer against what was actually retrieved.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869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(1–5)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grounded ONLY in retrieved recipe context — no invented ingredients or steps?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1460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10" name="Shape 7"/>
          <p:cNvSpPr/>
          <p:nvPr/>
        </p:nvSpPr>
        <p:spPr>
          <a:xfrm>
            <a:off x="322783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989" y="18962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0604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(1–5)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actually address what the user asked for?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1772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15" name="Shape 11"/>
          <p:cNvSpPr/>
          <p:nvPr/>
        </p:nvSpPr>
        <p:spPr>
          <a:xfrm>
            <a:off x="533095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109" y="1896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0916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(0/1)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75488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check: does the answer include both ingredients AND steps?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72084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20" name="Shape 15"/>
          <p:cNvSpPr/>
          <p:nvPr/>
        </p:nvSpPr>
        <p:spPr>
          <a:xfrm>
            <a:off x="743407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229" y="18962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1228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 Rate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keyword check: did retrieval actually surface the right dish?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methodology choice: each test case is run once, and the answers are consistent. Truncation was also removed. A correct “no match” answer scores 5/5.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30-case run vs earlier 4-run baseline. Completeness and Retrieval Hit shown as rate × 5.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2286000" cy="804672"/>
          </a:xfrm>
          <a:prstGeom prst="roundRect">
            <a:avLst>
              <a:gd name="adj" fmla="val 6818"/>
            </a:avLst>
          </a:prstGeom>
          <a:solidFill>
            <a:srgbClr val="8B3A2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2618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4.93/5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faithfulness (28 of 30 cases scored 5)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00800" y="2084832"/>
            <a:ext cx="2286000" cy="804672"/>
          </a:xfrm>
          <a:prstGeom prst="roundRect">
            <a:avLst>
              <a:gd name="adj" fmla="val 6818"/>
            </a:avLst>
          </a:prstGeom>
          <a:solidFill>
            <a:srgbClr val="8B3A2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2157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99.1%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 (deterministic check)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0" y="2980944"/>
            <a:ext cx="2286000" cy="804672"/>
          </a:xfrm>
          <a:prstGeom prst="roundRect">
            <a:avLst>
              <a:gd name="adj" fmla="val 6818"/>
            </a:avLst>
          </a:prstGeom>
          <a:solidFill>
            <a:srgbClr val="8B3A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3054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3438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 Rate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0" y="3877056"/>
            <a:ext cx="2286000" cy="804672"/>
          </a:xfrm>
          <a:prstGeom prst="roundRect">
            <a:avLst>
              <a:gd name="adj" fmla="val 6818"/>
            </a:avLst>
          </a:prstGeom>
          <a:solidFill>
            <a:srgbClr val="8B3A2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3950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334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errors (0 of 30 cases)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931" y="453771"/>
            <a:ext cx="326898" cy="3268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/ After: Closing the Faithfulness Gap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runs showed the model blending its own training-data knowledge into answers for globally-famous dishes, even when it contradicted the retrieved recipe. A citation-forcing prompt rewrite — every claim tagged to its source recipe — closed that gap entirely.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75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Carbonara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368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Tiramisu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660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Tikka Masala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660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2660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Shrimp Dumplings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Naan / Crêpes / Paneer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2062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2–3/5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4A7C59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4005072"/>
            <a:ext cx="457200" cy="457200"/>
          </a:xfrm>
          <a:prstGeom prst="ellipse">
            <a:avLst/>
          </a:prstGeom>
          <a:solidFill>
            <a:srgbClr val="3A634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107942"/>
            <a:ext cx="251460" cy="2514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325880" y="38862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cases with 100% verified citations jumped straight to 5/5 once the judge could see all 5 retrieved recipes (not just the first 2) and had enough token budget to finish its verdict.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Challenges &amp; Fixes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3578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Citation-forcing + verification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1097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now tags every claim to its source recipe; a separate non-LLM check verifies each tag against real retrieved titles (99%+ accurate)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67128"/>
            <a:ext cx="548640" cy="54864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29057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context truncation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20299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only saw ~2 of 5 retrieved recipes on long comparisons — removed truncation entirely so it sees everything the generator did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099816"/>
            <a:ext cx="548640" cy="54864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223260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9626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judge output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297680" y="296265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(gpt-oss) can exhaust their token budget on hidden reasoning before writing a verdict — raised max_tokens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4032504"/>
            <a:ext cx="548640" cy="548640"/>
          </a:xfrm>
          <a:prstGeom prst="ellipse">
            <a:avLst/>
          </a:prstGeom>
          <a:solidFill>
            <a:srgbClr val="8B3A2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155948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daily (not per-minute) quota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297680" y="389534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429 that no retry-sleep fixed — turned out to be a 200k-tokens/day cap, confirmed from the raw API error text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71016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design (dual retrieval: text + image)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1965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NLP pipelines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368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evaluation, cross-checked with deterministic verification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91693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that measurably closed a faithfulness gap (3.41 → 5.0/5)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46557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resilience: distinguishing infra failures (daily quotas) from real model errors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401421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601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debugging of eval-harness bias, not just accepting the score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8C2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Crave It · Search It · Cook 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Dataset: 30 Cases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from 25 to 30 queries to test refusal and near-miss behaviour, not just easy hits.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869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Baseline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present in the corpus, incl. 5 non-English queries (Hindi, French, Spanish, Russian, Chinese).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1460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10" name="Shape 7"/>
          <p:cNvSpPr/>
          <p:nvPr/>
        </p:nvSpPr>
        <p:spPr>
          <a:xfrm>
            <a:off x="322783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989" y="18962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0604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Not in dataset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rendang, churros with chocolate sauce. Correct answer: no relevant recipe found.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1772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15" name="Shape 11"/>
          <p:cNvSpPr/>
          <p:nvPr/>
        </p:nvSpPr>
        <p:spPr>
          <a:xfrm>
            <a:off x="533095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109" y="1896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0916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Ambiguous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75488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Sushi egg roll, seafood carbonara, mango cheesecake. Family exists, exact dish does not.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720840" y="164592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8B3A2F"/>
          </a:solidFill>
          <a:ln/>
        </p:spPr>
      </p:sp>
      <p:sp>
        <p:nvSpPr>
          <p:cNvPr id="20" name="Shape 15"/>
          <p:cNvSpPr/>
          <p:nvPr/>
        </p:nvSpPr>
        <p:spPr>
          <a:xfrm>
            <a:off x="7434072" y="1783080"/>
            <a:ext cx="502920" cy="502920"/>
          </a:xfrm>
          <a:prstGeom prst="ellipse">
            <a:avLst/>
          </a:prstGeom>
          <a:solidFill>
            <a:srgbClr val="6B2A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229" y="18962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1228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 of 5 refused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C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answered “No relevant recipes found” and scored 5/5. No made-up recipes.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refused seafood carbonara, sushi egg roll and mango cheesecake, even though related recipes exist in the corpus.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2026-09-24T04:35:38Z</dcterms:created>
  <dcterms:modified xsi:type="dcterms:W3CDTF">2026-09-24T04:35:38Z</dcterms:modified>
</cp:coreProperties>
</file>